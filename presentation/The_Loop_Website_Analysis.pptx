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Abril Fatface" panose="02000503000000020003" pitchFamily="2" charset="77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erriweather" pitchFamily="2" charset="77"/>
      <p:regular r:id="rId20"/>
      <p:bold r:id="rId21"/>
      <p:italic r:id="rId22"/>
      <p:boldItalic r:id="rId23"/>
    </p:embeddedFont>
    <p:embeddedFont>
      <p:font typeface="Montserrat" pitchFamily="2" charset="77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layfair Display" pitchFamily="2" charset="77"/>
      <p:regular r:id="rId32"/>
      <p:bold r:id="rId33"/>
      <p:italic r:id="rId34"/>
      <p:boldItalic r:id="rId35"/>
    </p:embeddedFont>
    <p:embeddedFont>
      <p:font typeface="Source Sans 3" panose="020B0303030403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5043"/>
    <a:srgbClr val="2C2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0"/>
  </p:normalViewPr>
  <p:slideViewPr>
    <p:cSldViewPr snapToGrid="0">
      <p:cViewPr varScale="1">
        <p:scale>
          <a:sx n="136" d="100"/>
          <a:sy n="136" d="100"/>
        </p:scale>
        <p:origin x="75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628ffdc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628ffdc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628ffdc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628ffdc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28ffdc91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628ffdc91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28ffdc91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628ffdc91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28ffdc91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628ffdc91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28ffdc91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628ffdc91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628ffdc91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628ffdc91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28ffdc91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628ffdc91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28ffdc91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28ffdc91_1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628ffdc91_1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628ffdc91_1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628ffdc91_1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628ffdc91_1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608600"/>
            <a:ext cx="8520600" cy="10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7D1"/>
                </a:solidFill>
                <a:latin typeface="Merriweather"/>
                <a:ea typeface="Merriweather"/>
                <a:cs typeface="Merriweather"/>
                <a:sym typeface="Merriweather"/>
              </a:rPr>
              <a:t>Website Analysis</a:t>
            </a:r>
            <a:endParaRPr>
              <a:solidFill>
                <a:srgbClr val="E6E7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58500"/>
            <a:ext cx="8520600" cy="57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399AB"/>
                </a:solidFill>
                <a:latin typeface="Open Sans"/>
                <a:ea typeface="Open Sans"/>
                <a:cs typeface="Open Sans"/>
                <a:sym typeface="Open Sans"/>
              </a:rPr>
              <a:t>A Pitch for a Stronger Online Presence</a:t>
            </a:r>
            <a:endParaRPr sz="1800">
              <a:solidFill>
                <a:srgbClr val="6399A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1144600"/>
            <a:ext cx="8520600" cy="57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B85043"/>
                </a:solidFill>
                <a:latin typeface="Open Sans"/>
                <a:ea typeface="Open Sans"/>
                <a:cs typeface="Open Sans"/>
                <a:sym typeface="Open Sans"/>
              </a:rPr>
              <a:t>THE ESCALANTE LOOP</a:t>
            </a:r>
            <a:endParaRPr sz="1800" b="1">
              <a:solidFill>
                <a:srgbClr val="B850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808300" y="2783725"/>
            <a:ext cx="3527400" cy="600"/>
          </a:xfrm>
          <a:prstGeom prst="straightConnector1">
            <a:avLst/>
          </a:prstGeom>
          <a:noFill/>
          <a:ln w="38100" cap="flat" cmpd="sng">
            <a:solidFill>
              <a:srgbClr val="976D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3072000" y="3537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85043"/>
                </a:solidFill>
                <a:latin typeface="Open Sans"/>
                <a:ea typeface="Open Sans"/>
                <a:cs typeface="Open Sans"/>
                <a:sym typeface="Open Sans"/>
              </a:rPr>
              <a:t>Gloria Hansen</a:t>
            </a:r>
            <a:endParaRPr sz="1800">
              <a:solidFill>
                <a:srgbClr val="B850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The Current Site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11700" y="1279425"/>
            <a:ext cx="3876900" cy="5727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What's working</a:t>
            </a:r>
            <a:endParaRPr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829733" y="1279425"/>
            <a:ext cx="3876900" cy="5727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Opportunities to Improve</a:t>
            </a:r>
            <a:endParaRPr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11700" y="1852125"/>
            <a:ext cx="3876900" cy="27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Local community focus is clear</a:t>
            </a:r>
            <a:endParaRPr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Events are listed and actively maintained</a:t>
            </a:r>
            <a:endParaRPr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Each business has its own dedicated page</a:t>
            </a:r>
            <a:endParaRPr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Authentic personality — not corporate or generic</a:t>
            </a:r>
            <a:endParaRPr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Site is secure and browser-trusted</a:t>
            </a:r>
            <a:endParaRPr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829733" y="1852125"/>
            <a:ext cx="3876900" cy="27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No consistent colors, fonts, or visual style</a:t>
            </a:r>
            <a:endParaRPr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Too many navigation items making the site overwhelming and hard to use</a:t>
            </a:r>
            <a:endParaRPr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No consistent header or footer </a:t>
            </a:r>
            <a:endParaRPr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No online form or clear path to rent the space</a:t>
            </a:r>
            <a:endParaRPr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The site is not optimized for mobile visitors</a:t>
            </a:r>
            <a:endParaRPr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The Vision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017713"/>
            <a:ext cx="87477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A site that works as hard as you do; welcoming visitors, informing locals, supporting small businesses, and renting beautiful spaces.</a:t>
            </a:r>
            <a:endParaRPr sz="1400" i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24414" y="1804735"/>
            <a:ext cx="3932400" cy="9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Clear Identity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Brand colors, consistent fonts, and a logo that reflects the landscape and community spirit of Escalante.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57495" y="1804732"/>
            <a:ext cx="170700" cy="9198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4414" y="2875776"/>
            <a:ext cx="3932400" cy="9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Simpler Navigation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Fewer pages, smarter structure. Visitors find what they need in one click.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53700" y="2875767"/>
            <a:ext cx="170700" cy="9198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858000" y="1804725"/>
            <a:ext cx="3932400" cy="9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Rent Spaces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An online form so potential tenants can reach out directly.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858000" y="2875776"/>
            <a:ext cx="3932400" cy="9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Mobile-friendly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Most visitors will find you on their phone. The new site will look great on any screen.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684403" y="2875774"/>
            <a:ext cx="170700" cy="9198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24414" y="3946835"/>
            <a:ext cx="3932400" cy="9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Events at a Glance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A clean, always-current events section with full dates and details.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53675" y="3946819"/>
            <a:ext cx="170700" cy="9198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687300" y="1804732"/>
            <a:ext cx="170700" cy="9198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97;p16">
            <a:extLst>
              <a:ext uri="{FF2B5EF4-FFF2-40B4-BE49-F238E27FC236}">
                <a16:creationId xmlns:a16="http://schemas.microsoft.com/office/drawing/2014/main" id="{F8EE5CBC-C1DC-5495-D63F-D75C61F8A2B6}"/>
              </a:ext>
            </a:extLst>
          </p:cNvPr>
          <p:cNvCxnSpPr/>
          <p:nvPr/>
        </p:nvCxnSpPr>
        <p:spPr>
          <a:xfrm>
            <a:off x="1203975" y="2026519"/>
            <a:ext cx="0" cy="486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6"/>
          <p:cNvSpPr/>
          <p:nvPr/>
        </p:nvSpPr>
        <p:spPr>
          <a:xfrm>
            <a:off x="6158768" y="3270900"/>
            <a:ext cx="2132100" cy="15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5"/>
          </a:p>
        </p:txBody>
      </p:sp>
      <p:cxnSp>
        <p:nvCxnSpPr>
          <p:cNvPr id="89" name="Google Shape;89;p16"/>
          <p:cNvCxnSpPr>
            <a:cxnSpLocks/>
            <a:stCxn id="91" idx="2"/>
          </p:cNvCxnSpPr>
          <p:nvPr/>
        </p:nvCxnSpPr>
        <p:spPr>
          <a:xfrm>
            <a:off x="4586847" y="1808125"/>
            <a:ext cx="78" cy="491388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New Site Structure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146947" y="1237525"/>
            <a:ext cx="4879800" cy="570600"/>
          </a:xfrm>
          <a:prstGeom prst="rect">
            <a:avLst/>
          </a:prstGeom>
          <a:solidFill>
            <a:srgbClr val="D4884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>
            <a:off x="1204056" y="2037543"/>
            <a:ext cx="6765600" cy="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6"/>
          <p:cNvCxnSpPr/>
          <p:nvPr/>
        </p:nvCxnSpPr>
        <p:spPr>
          <a:xfrm>
            <a:off x="6278379" y="2037529"/>
            <a:ext cx="0" cy="486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Google Shape;94;p16"/>
          <p:cNvSpPr/>
          <p:nvPr/>
        </p:nvSpPr>
        <p:spPr>
          <a:xfrm>
            <a:off x="3838425" y="2294454"/>
            <a:ext cx="1497000" cy="5706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Events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529894" y="2294454"/>
            <a:ext cx="1497000" cy="5706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Rent the Space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7969839" y="2026519"/>
            <a:ext cx="0" cy="486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6"/>
          <p:cNvCxnSpPr/>
          <p:nvPr/>
        </p:nvCxnSpPr>
        <p:spPr>
          <a:xfrm>
            <a:off x="2895460" y="2037529"/>
            <a:ext cx="0" cy="486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6"/>
          <p:cNvSpPr/>
          <p:nvPr/>
        </p:nvSpPr>
        <p:spPr>
          <a:xfrm>
            <a:off x="455487" y="2294454"/>
            <a:ext cx="1497000" cy="5706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About the Loop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221362" y="2294454"/>
            <a:ext cx="1497000" cy="5706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1" name="Google Shape;101;p16"/>
          <p:cNvCxnSpPr>
            <a:endCxn id="102" idx="0"/>
          </p:cNvCxnSpPr>
          <p:nvPr/>
        </p:nvCxnSpPr>
        <p:spPr>
          <a:xfrm>
            <a:off x="2895435" y="2864901"/>
            <a:ext cx="0" cy="1263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6"/>
          <p:cNvSpPr/>
          <p:nvPr/>
        </p:nvSpPr>
        <p:spPr>
          <a:xfrm>
            <a:off x="2146956" y="2294454"/>
            <a:ext cx="1497000" cy="5706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Our Businesses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6"/>
          <p:cNvCxnSpPr/>
          <p:nvPr/>
        </p:nvCxnSpPr>
        <p:spPr>
          <a:xfrm rot="10800000" flipH="1">
            <a:off x="1189060" y="3107495"/>
            <a:ext cx="3412800" cy="15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6"/>
          <p:cNvCxnSpPr/>
          <p:nvPr/>
        </p:nvCxnSpPr>
        <p:spPr>
          <a:xfrm>
            <a:off x="4586950" y="3122010"/>
            <a:ext cx="0" cy="4863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6"/>
          <p:cNvCxnSpPr>
            <a:cxnSpLocks/>
          </p:cNvCxnSpPr>
          <p:nvPr/>
        </p:nvCxnSpPr>
        <p:spPr>
          <a:xfrm>
            <a:off x="1193089" y="3107301"/>
            <a:ext cx="0" cy="10209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6"/>
          <p:cNvSpPr/>
          <p:nvPr/>
        </p:nvSpPr>
        <p:spPr>
          <a:xfrm>
            <a:off x="2146960" y="3351384"/>
            <a:ext cx="1497000" cy="5706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Solace and Stone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146935" y="4128201"/>
            <a:ext cx="1497000" cy="5706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Mackenzie Hair</a:t>
            </a:r>
            <a:endParaRPr sz="1395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55475" y="3351384"/>
            <a:ext cx="1497000" cy="5706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Momentum Yoga</a:t>
            </a:r>
            <a:endParaRPr sz="1395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364125" y="3396359"/>
            <a:ext cx="368100" cy="353700"/>
          </a:xfrm>
          <a:prstGeom prst="rect">
            <a:avLst/>
          </a:prstGeom>
          <a:solidFill>
            <a:srgbClr val="D4884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364125" y="3858281"/>
            <a:ext cx="368100" cy="3537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364125" y="4320174"/>
            <a:ext cx="368100" cy="3537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742582" y="3351384"/>
            <a:ext cx="1497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91100" rIns="91100" bIns="91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Main page</a:t>
            </a:r>
            <a:endParaRPr sz="1395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742582" y="3813289"/>
            <a:ext cx="1497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91100" rIns="91100" bIns="91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Nav section</a:t>
            </a:r>
            <a:endParaRPr sz="1395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742582" y="4275194"/>
            <a:ext cx="1497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91100" rIns="91100" bIns="91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Business card</a:t>
            </a:r>
            <a:endParaRPr sz="1395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" name="Google Shape;106;p16">
            <a:extLst>
              <a:ext uri="{FF2B5EF4-FFF2-40B4-BE49-F238E27FC236}">
                <a16:creationId xmlns:a16="http://schemas.microsoft.com/office/drawing/2014/main" id="{41B04E16-9013-2951-8963-7C0E4661C1B1}"/>
              </a:ext>
            </a:extLst>
          </p:cNvPr>
          <p:cNvCxnSpPr>
            <a:cxnSpLocks/>
          </p:cNvCxnSpPr>
          <p:nvPr/>
        </p:nvCxnSpPr>
        <p:spPr>
          <a:xfrm>
            <a:off x="4586847" y="3119632"/>
            <a:ext cx="0" cy="1020900"/>
          </a:xfrm>
          <a:prstGeom prst="straightConnector1">
            <a:avLst/>
          </a:prstGeom>
          <a:noFill/>
          <a:ln w="28475" cap="flat" cmpd="sng">
            <a:solidFill>
              <a:srgbClr val="2C24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6"/>
          <p:cNvSpPr/>
          <p:nvPr/>
        </p:nvSpPr>
        <p:spPr>
          <a:xfrm>
            <a:off x="3838425" y="4123014"/>
            <a:ext cx="1497000" cy="5706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Brooke Hair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838444" y="3351384"/>
            <a:ext cx="1497000" cy="5706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Highway 12 Nails</a:t>
            </a:r>
            <a:endParaRPr sz="139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09;p16">
            <a:extLst>
              <a:ext uri="{FF2B5EF4-FFF2-40B4-BE49-F238E27FC236}">
                <a16:creationId xmlns:a16="http://schemas.microsoft.com/office/drawing/2014/main" id="{9C49ACA0-E6BE-F90D-52BD-0B426E6AB483}"/>
              </a:ext>
            </a:extLst>
          </p:cNvPr>
          <p:cNvSpPr/>
          <p:nvPr/>
        </p:nvSpPr>
        <p:spPr>
          <a:xfrm>
            <a:off x="440511" y="4123014"/>
            <a:ext cx="1497000" cy="570600"/>
          </a:xfrm>
          <a:prstGeom prst="rect">
            <a:avLst/>
          </a:prstGeom>
          <a:solidFill>
            <a:srgbClr val="B95043"/>
          </a:solidFill>
          <a:ln>
            <a:noFill/>
          </a:ln>
        </p:spPr>
        <p:txBody>
          <a:bodyPr spcFirstLastPara="1" wrap="square" lIns="91100" tIns="91100" rIns="91100" bIns="91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5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Instructor Training</a:t>
            </a:r>
            <a:endParaRPr sz="1395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116;p16">
            <a:extLst>
              <a:ext uri="{FF2B5EF4-FFF2-40B4-BE49-F238E27FC236}">
                <a16:creationId xmlns:a16="http://schemas.microsoft.com/office/drawing/2014/main" id="{1289BC4E-9113-6CB9-B05B-C7E2FDC3A2FF}"/>
              </a:ext>
            </a:extLst>
          </p:cNvPr>
          <p:cNvSpPr txBox="1"/>
          <p:nvPr/>
        </p:nvSpPr>
        <p:spPr>
          <a:xfrm>
            <a:off x="6742582" y="4737099"/>
            <a:ext cx="1497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91100" rIns="91100" bIns="91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95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7D1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Direction</a:t>
            </a:r>
            <a:endParaRPr>
              <a:solidFill>
                <a:srgbClr val="E6E7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 rot="10800000" flipH="1">
            <a:off x="554705" y="3042150"/>
            <a:ext cx="5246100" cy="11100"/>
          </a:xfrm>
          <a:prstGeom prst="straightConnector1">
            <a:avLst/>
          </a:prstGeom>
          <a:noFill/>
          <a:ln w="38100" cap="flat" cmpd="sng">
            <a:solidFill>
              <a:srgbClr val="976D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7"/>
          <p:cNvSpPr txBox="1">
            <a:spLocks noGrp="1"/>
          </p:cNvSpPr>
          <p:nvPr>
            <p:ph type="subTitle" idx="4294967295"/>
          </p:nvPr>
        </p:nvSpPr>
        <p:spPr>
          <a:xfrm>
            <a:off x="490250" y="3176450"/>
            <a:ext cx="8520600" cy="57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399AB"/>
                </a:solidFill>
                <a:latin typeface="Open Sans"/>
                <a:ea typeface="Open Sans"/>
                <a:cs typeface="Open Sans"/>
                <a:sym typeface="Open Sans"/>
              </a:rPr>
              <a:t>A few ideas based on the your local landscape</a:t>
            </a:r>
            <a:endParaRPr sz="1800">
              <a:solidFill>
                <a:srgbClr val="6399A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6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1134400"/>
            <a:ext cx="9144000" cy="40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311700" y="341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6E7D1"/>
                </a:solidFill>
                <a:latin typeface="Merriweather"/>
                <a:ea typeface="Merriweather"/>
                <a:cs typeface="Merriweather"/>
                <a:sym typeface="Merriweather"/>
              </a:rPr>
              <a:t>Typography</a:t>
            </a:r>
            <a:endParaRPr b="1">
              <a:solidFill>
                <a:srgbClr val="E6E7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11700" y="143079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B85043"/>
                </a:solidFill>
                <a:latin typeface="Open Sans"/>
                <a:ea typeface="Open Sans"/>
                <a:cs typeface="Open Sans"/>
                <a:sym typeface="Open Sans"/>
              </a:rPr>
              <a:t>Retro &amp; Authentic: </a:t>
            </a: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matches the logos vintage script personality</a:t>
            </a:r>
            <a:endParaRPr sz="16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Display: </a:t>
            </a:r>
            <a:r>
              <a:rPr lang="en" sz="1600" dirty="0">
                <a:solidFill>
                  <a:srgbClr val="2C2416"/>
                </a:solidFill>
                <a:latin typeface="Abril Fatface"/>
                <a:ea typeface="Abril Fatface"/>
                <a:cs typeface="Abril Fatface"/>
                <a:sym typeface="Abril Fatface"/>
              </a:rPr>
              <a:t>Abril </a:t>
            </a:r>
            <a:endParaRPr sz="1600" dirty="0">
              <a:solidFill>
                <a:srgbClr val="2C2416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Body: </a:t>
            </a:r>
            <a:r>
              <a:rPr lang="en" sz="1600" dirty="0" err="1">
                <a:solidFill>
                  <a:srgbClr val="2C2416"/>
                </a:solidFill>
                <a:latin typeface="Lato"/>
                <a:ea typeface="Lato"/>
                <a:cs typeface="Lato"/>
                <a:sym typeface="Lato"/>
              </a:rPr>
              <a:t>Lato</a:t>
            </a:r>
            <a:endParaRPr sz="1600" dirty="0">
              <a:solidFill>
                <a:srgbClr val="2C241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7B9E7E"/>
                </a:solidFill>
                <a:latin typeface="Open Sans"/>
                <a:ea typeface="Open Sans"/>
                <a:cs typeface="Open Sans"/>
                <a:sym typeface="Open Sans"/>
              </a:rPr>
              <a:t>Warm &amp; Editorial:</a:t>
            </a: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 elevated but still approachable</a:t>
            </a:r>
            <a:endParaRPr sz="16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Display: </a:t>
            </a:r>
            <a:r>
              <a:rPr lang="en" sz="1600" b="1" dirty="0">
                <a:solidFill>
                  <a:srgbClr val="2C241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Playfair Display</a:t>
            </a:r>
            <a:endParaRPr sz="1600" b="1" dirty="0">
              <a:solidFill>
                <a:srgbClr val="2C241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Body: </a:t>
            </a:r>
            <a:r>
              <a:rPr lang="en" sz="1600" dirty="0">
                <a:solidFill>
                  <a:srgbClr val="2C2416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Source Sans Pro</a:t>
            </a:r>
            <a:endParaRPr sz="1600" dirty="0">
              <a:solidFill>
                <a:srgbClr val="2C241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6399AB"/>
                </a:solidFill>
                <a:latin typeface="Open Sans"/>
                <a:ea typeface="Open Sans"/>
                <a:cs typeface="Open Sans"/>
                <a:sym typeface="Open Sans"/>
              </a:rPr>
              <a:t>Clean &amp; Modern:</a:t>
            </a:r>
            <a:r>
              <a:rPr lang="en" sz="1600" dirty="0">
                <a:solidFill>
                  <a:srgbClr val="6399A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lets the colors do the talking</a:t>
            </a:r>
            <a:endParaRPr sz="16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Display: </a:t>
            </a:r>
            <a:r>
              <a:rPr lang="en" sz="1600" b="1" dirty="0">
                <a:solidFill>
                  <a:srgbClr val="2C2416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  <a:endParaRPr sz="1600" b="1" dirty="0">
              <a:solidFill>
                <a:srgbClr val="2C2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600"/>
              <a:buChar char="●"/>
            </a:pPr>
            <a:r>
              <a:rPr lang="en" sz="16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Body: Open Sans</a:t>
            </a:r>
            <a:endParaRPr sz="20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0" y="1134400"/>
            <a:ext cx="9144000" cy="40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311700" y="341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6E7D1"/>
                </a:solidFill>
                <a:latin typeface="Merriweather"/>
                <a:ea typeface="Merriweather"/>
                <a:cs typeface="Merriweather"/>
                <a:sym typeface="Merriweather"/>
              </a:rPr>
              <a:t>Color Palette</a:t>
            </a:r>
            <a:endParaRPr b="1">
              <a:solidFill>
                <a:srgbClr val="E6E7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7" name="Google Shape;137;p19" title="Screenshot 2026-04-24 at 12.34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34" y="1525900"/>
            <a:ext cx="2717456" cy="2058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Screenshot 2026-04-24 at 12.32.5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0404" y="1525900"/>
            <a:ext cx="2717458" cy="212536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9" name="Google Shape;139;p19" title="Screenshot 2026-04-24 at 12.35.4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3272" y="2687438"/>
            <a:ext cx="2717458" cy="206466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Key Features to Add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1079100" y="1291850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2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Global Header and Footer</a:t>
            </a:r>
            <a:endParaRPr sz="1222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22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Consistent navigation and contact info on every single page.</a:t>
            </a:r>
            <a:endParaRPr sz="12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258281" y="1291850"/>
            <a:ext cx="842700" cy="937200"/>
          </a:xfrm>
          <a:prstGeom prst="rect">
            <a:avLst/>
          </a:prstGeom>
          <a:solidFill>
            <a:srgbClr val="976D66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80693" y="2531105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2" b="1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Rent the Space Form</a:t>
            </a:r>
            <a:endParaRPr sz="1222" b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22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Online inquiry form — name, dates, intended use, contact info.</a:t>
            </a:r>
            <a:endParaRPr sz="1222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237925" y="2531105"/>
            <a:ext cx="842700" cy="9372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504411" y="1291850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2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Event Section</a:t>
            </a:r>
            <a:endParaRPr sz="1222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22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Clean event cards with full dates, times, and descriptions. Easy for you to update in Wix.</a:t>
            </a:r>
            <a:endParaRPr sz="12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505886" y="2531105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2" b="1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Business Showcase</a:t>
            </a:r>
            <a:endParaRPr sz="1222" b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22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Each business gets a clean card with their specialty, hours, and booking form.</a:t>
            </a:r>
            <a:endParaRPr sz="1222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4660251" y="2531105"/>
            <a:ext cx="842700" cy="937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079218" y="3770349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Mobile Design</a:t>
            </a:r>
            <a:endParaRPr sz="1200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Designed to look great on phones. Most visitors will look you up via a mobile device.</a:t>
            </a:r>
            <a:endParaRPr sz="120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236425" y="3770349"/>
            <a:ext cx="842700" cy="9372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661640" y="1291850"/>
            <a:ext cx="842700" cy="937200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5507373" y="3770349"/>
            <a:ext cx="3400200" cy="9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2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Brand Identity</a:t>
            </a:r>
            <a:endParaRPr sz="1222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88"/>
              </a:spcBef>
              <a:spcAft>
                <a:spcPts val="0"/>
              </a:spcAft>
              <a:buNone/>
            </a:pPr>
            <a:r>
              <a:rPr lang="en" sz="1222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A cohesive palette, font system, and visual style that reflects Escalante and the Loop.</a:t>
            </a:r>
            <a:endParaRPr sz="12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4661641" y="3770349"/>
            <a:ext cx="842700" cy="937200"/>
          </a:xfrm>
          <a:prstGeom prst="rect">
            <a:avLst/>
          </a:prstGeom>
          <a:solidFill>
            <a:srgbClr val="D4884E"/>
          </a:soli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2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20" title="156655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8625"/>
            <a:ext cx="654275" cy="6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58737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5250" y="39526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2569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63" y="1488063"/>
            <a:ext cx="57272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title="101561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6649" y="1488050"/>
            <a:ext cx="572700" cy="572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title="93167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488" y="2672563"/>
            <a:ext cx="654275" cy="6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title="696416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6649" y="2713349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99AB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for You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311700" y="1017713"/>
            <a:ext cx="87477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E6E7D1"/>
                </a:solidFill>
                <a:latin typeface="Open Sans"/>
                <a:ea typeface="Open Sans"/>
                <a:cs typeface="Open Sans"/>
                <a:sym typeface="Open Sans"/>
              </a:rPr>
              <a:t>Your answers will help decide every design decision.</a:t>
            </a:r>
            <a:endParaRPr i="1">
              <a:solidFill>
                <a:srgbClr val="E6E7D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403287" y="1725418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403287" y="2832410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03287" y="3939402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542934" y="1725405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542934" y="2832398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542934" y="3939390"/>
            <a:ext cx="688200" cy="678300"/>
          </a:xfrm>
          <a:prstGeom prst="ellipse">
            <a:avLst/>
          </a:prstGeom>
          <a:solidFill>
            <a:srgbClr val="E6E7D1"/>
          </a:solidFill>
          <a:ln>
            <a:noFill/>
          </a:ln>
        </p:spPr>
        <p:txBody>
          <a:bodyPr spcFirstLastPara="1" wrap="square" lIns="85900" tIns="85900" rIns="85900" bIns="8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9" b="1">
                <a:solidFill>
                  <a:srgbClr val="7B9E7E"/>
                </a:solidFill>
                <a:latin typeface="Merriweather"/>
                <a:ea typeface="Merriweather"/>
                <a:cs typeface="Merriweather"/>
                <a:sym typeface="Merriweather"/>
              </a:rPr>
              <a:t>6</a:t>
            </a:r>
            <a:endParaRPr sz="2349" b="1">
              <a:solidFill>
                <a:srgbClr val="7B9E7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1190615" y="1725425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Who is the main audience? Locals, tourists, a bit of both?</a:t>
            </a:r>
            <a:endParaRPr sz="1600">
              <a:solidFill>
                <a:srgbClr val="2C2416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5363306" y="1725425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Do you have existing brand colors or logos you would like to keep?</a:t>
            </a:r>
            <a:endParaRPr sz="1600">
              <a:solidFill>
                <a:srgbClr val="2C2416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1190615" y="2832400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What do you want most people to do when they visit your site?</a:t>
            </a:r>
            <a:endParaRPr sz="1600">
              <a:solidFill>
                <a:srgbClr val="2C2416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1190615" y="3939400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Are you using Wix? If not, how are you coding/ hosting your site?</a:t>
            </a:r>
            <a:endParaRPr sz="1600">
              <a:solidFill>
                <a:srgbClr val="2C2416"/>
              </a:solidFill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363306" y="2832400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Do you have professional photos of the space and businesses?</a:t>
            </a:r>
            <a:endParaRPr sz="1600">
              <a:solidFill>
                <a:srgbClr val="2C2416"/>
              </a:solidFill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5363306" y="3939400"/>
            <a:ext cx="29454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C2416"/>
                </a:solidFill>
              </a:rPr>
              <a:t>Are there any sites you love the look or feel of?</a:t>
            </a:r>
            <a:endParaRPr sz="1600">
              <a:solidFill>
                <a:srgbClr val="2C241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Fee and Scope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6396929" y="1017725"/>
            <a:ext cx="2354100" cy="519300"/>
          </a:xfrm>
          <a:prstGeom prst="rect">
            <a:avLst/>
          </a:prstGeom>
          <a:solidFill>
            <a:srgbClr val="7B9E7E"/>
          </a:solidFill>
          <a:ln>
            <a:noFill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FLAT FEE</a:t>
            </a:r>
            <a:endParaRPr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396925" y="1537025"/>
            <a:ext cx="2354100" cy="12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$700</a:t>
            </a:r>
            <a:endParaRPr sz="2000" b="1" dirty="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50% upfront</a:t>
            </a:r>
            <a:endParaRPr sz="1200" dirty="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50% at launch</a:t>
            </a:r>
            <a:endParaRPr sz="1200" dirty="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" name="Google Shape;188;p22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5604900" cy="38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What’s included:</a:t>
            </a:r>
            <a:endParaRPr sz="1400" b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Brand identity (color palette, typography, visual style)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Global header and footer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Homepage redesign 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Business showcase page (with buttons to individual pages)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Events section with full date formatting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Rent the Space inquiry form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Contact page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Mobile-friendly design throughout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One round of revisions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400"/>
              <a:buFont typeface="Open Sans"/>
              <a:buChar char="●"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Launch walkthrough and training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I estimate this project will take me about </a:t>
            </a:r>
            <a:r>
              <a:rPr lang="en" sz="1400" b="1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40-50 hours </a:t>
            </a:r>
            <a:r>
              <a:rPr lang="en" sz="1400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(4 to 5 weeks)</a:t>
            </a:r>
            <a:endParaRPr sz="14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This analysis is free!</a:t>
            </a:r>
            <a:endParaRPr sz="1400" i="1" dirty="0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6396929" y="3105723"/>
            <a:ext cx="2354100" cy="519300"/>
          </a:xfrm>
          <a:prstGeom prst="rect">
            <a:avLst/>
          </a:prstGeom>
          <a:solidFill>
            <a:srgbClr val="6399AB"/>
          </a:solidFill>
          <a:ln>
            <a:noFill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HOURLY RATE</a:t>
            </a:r>
            <a:endParaRPr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6396925" y="3624975"/>
            <a:ext cx="2354100" cy="12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$18</a:t>
            </a:r>
            <a:endParaRPr sz="100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" b="1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Hours logged and</a:t>
            </a:r>
            <a:endParaRPr sz="1200">
              <a:solidFill>
                <a:srgbClr val="2C241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2416"/>
                </a:solidFill>
                <a:latin typeface="Merriweather"/>
                <a:ea typeface="Merriweather"/>
                <a:cs typeface="Merriweather"/>
                <a:sym typeface="Merriweather"/>
              </a:rPr>
              <a:t>paid weekly</a:t>
            </a:r>
            <a:endParaRPr sz="1269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D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85043"/>
                </a:solidFill>
                <a:latin typeface="Merriweather"/>
                <a:ea typeface="Merriweather"/>
                <a:cs typeface="Merriweather"/>
                <a:sym typeface="Merriweather"/>
              </a:rPr>
              <a:t>Next Steps</a:t>
            </a:r>
            <a:endParaRPr b="1">
              <a:solidFill>
                <a:srgbClr val="B850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930475" y="1200250"/>
            <a:ext cx="78153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Content gathering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Photos, text, business info, hours, and social links. The more you provide, the better the result.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407865" y="1200250"/>
            <a:ext cx="522600" cy="571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1)</a:t>
            </a:r>
            <a:endParaRPr sz="1636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930475" y="1957150"/>
            <a:ext cx="78150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Mood board &amp; wireframes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I'll share a visual direction and page layouts for your feedback before any building begins.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98474" y="1957150"/>
            <a:ext cx="522600" cy="571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3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2)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930575" y="2714050"/>
            <a:ext cx="78150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Build in Wix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Full site build with your approved design. You'll review at each stage.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98425" y="2714025"/>
            <a:ext cx="522600" cy="571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3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3)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930275" y="3470975"/>
            <a:ext cx="78153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Review &amp; revisions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One round of revisions based on your feedback to get everything just right.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407740" y="3470975"/>
            <a:ext cx="522600" cy="571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3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4)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930275" y="4209550"/>
            <a:ext cx="78153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 b="1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Launch &amp; training</a:t>
            </a:r>
            <a:endParaRPr sz="1136" b="1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2C2416"/>
                </a:solidFill>
                <a:latin typeface="Open Sans"/>
                <a:ea typeface="Open Sans"/>
                <a:cs typeface="Open Sans"/>
                <a:sym typeface="Open Sans"/>
              </a:rPr>
              <a:t>Final walkthrough, training on how to update events yourself, and go live.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398474" y="4209525"/>
            <a:ext cx="522600" cy="571200"/>
          </a:xfrm>
          <a:prstGeom prst="rect">
            <a:avLst/>
          </a:prstGeom>
          <a:solidFill>
            <a:srgbClr val="B85043"/>
          </a:solidFill>
          <a:ln>
            <a:noFill/>
          </a:ln>
        </p:spPr>
        <p:txBody>
          <a:bodyPr spcFirstLastPara="1" wrap="square" lIns="74150" tIns="74150" rIns="74150" bIns="741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3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5)</a:t>
            </a:r>
            <a:endParaRPr sz="1136">
              <a:solidFill>
                <a:srgbClr val="2C2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6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490250" y="863100"/>
            <a:ext cx="7331400" cy="32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E6E7D1"/>
                </a:solidFill>
                <a:latin typeface="Merriweather"/>
                <a:ea typeface="Merriweather"/>
                <a:cs typeface="Merriweather"/>
                <a:sym typeface="Merriweather"/>
              </a:rPr>
              <a:t>Let’s build something the community is proud of!</a:t>
            </a:r>
            <a:endParaRPr sz="3500">
              <a:solidFill>
                <a:srgbClr val="E6E7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211" name="Google Shape;211;p24"/>
          <p:cNvCxnSpPr/>
          <p:nvPr/>
        </p:nvCxnSpPr>
        <p:spPr>
          <a:xfrm rot="10800000" flipH="1">
            <a:off x="490255" y="3310962"/>
            <a:ext cx="5246100" cy="11100"/>
          </a:xfrm>
          <a:prstGeom prst="straightConnector1">
            <a:avLst/>
          </a:prstGeom>
          <a:noFill/>
          <a:ln w="38100" cap="flat" cmpd="sng">
            <a:solidFill>
              <a:srgbClr val="976D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4"/>
          <p:cNvSpPr txBox="1">
            <a:spLocks noGrp="1"/>
          </p:cNvSpPr>
          <p:nvPr>
            <p:ph type="subTitle" idx="4294967295"/>
          </p:nvPr>
        </p:nvSpPr>
        <p:spPr>
          <a:xfrm>
            <a:off x="490250" y="3469988"/>
            <a:ext cx="8520600" cy="57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399AB"/>
                </a:solidFill>
                <a:latin typeface="Open Sans"/>
                <a:ea typeface="Open Sans"/>
                <a:cs typeface="Open Sans"/>
                <a:sym typeface="Open Sans"/>
              </a:rPr>
              <a:t>Questions? Ideas? Let’s talk.</a:t>
            </a:r>
            <a:endParaRPr sz="1800">
              <a:solidFill>
                <a:srgbClr val="6399A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4"/>
          <p:cNvSpPr txBox="1">
            <a:spLocks noGrp="1"/>
          </p:cNvSpPr>
          <p:nvPr>
            <p:ph type="subTitle" idx="4294967295"/>
          </p:nvPr>
        </p:nvSpPr>
        <p:spPr>
          <a:xfrm>
            <a:off x="490250" y="1321800"/>
            <a:ext cx="8520600" cy="57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B85043"/>
                </a:solidFill>
                <a:latin typeface="Open Sans"/>
                <a:ea typeface="Open Sans"/>
                <a:cs typeface="Open Sans"/>
                <a:sym typeface="Open Sans"/>
              </a:rPr>
              <a:t>THE ESCALANTE LOOP</a:t>
            </a:r>
            <a:endParaRPr sz="1800" b="1">
              <a:solidFill>
                <a:srgbClr val="B850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Macintosh PowerPoint</Application>
  <PresentationFormat>On-screen Show (16:9)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Open Sans</vt:lpstr>
      <vt:lpstr>Montserrat</vt:lpstr>
      <vt:lpstr>Lato</vt:lpstr>
      <vt:lpstr>Source Sans 3</vt:lpstr>
      <vt:lpstr>Merriweather</vt:lpstr>
      <vt:lpstr>Playfair Display</vt:lpstr>
      <vt:lpstr>Abril Fatface</vt:lpstr>
      <vt:lpstr>Arial</vt:lpstr>
      <vt:lpstr>Simple Light</vt:lpstr>
      <vt:lpstr>Website Analysis</vt:lpstr>
      <vt:lpstr>The Current Site</vt:lpstr>
      <vt:lpstr>The Vision</vt:lpstr>
      <vt:lpstr>New Site Structure</vt:lpstr>
      <vt:lpstr>Visual Direction</vt:lpstr>
      <vt:lpstr>Typography</vt:lpstr>
      <vt:lpstr>Color Palette</vt:lpstr>
      <vt:lpstr>Key Features to Add</vt:lpstr>
      <vt:lpstr>Questions for You</vt:lpstr>
      <vt:lpstr>Fee and Scope</vt:lpstr>
      <vt:lpstr>Next Steps</vt:lpstr>
      <vt:lpstr>Let’s build something the community is proud of!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Analysis</dc:title>
  <cp:lastModifiedBy>Gloria Hansen</cp:lastModifiedBy>
  <cp:revision>2</cp:revision>
  <dcterms:modified xsi:type="dcterms:W3CDTF">2026-05-07T21:32:45Z</dcterms:modified>
</cp:coreProperties>
</file>